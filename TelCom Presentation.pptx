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7" r:id="rId4"/>
  </p:sldMasterIdLst>
  <p:notesMasterIdLst>
    <p:notesMasterId r:id="rId18"/>
  </p:notesMasterIdLst>
  <p:handoutMasterIdLst>
    <p:handoutMasterId r:id="rId19"/>
  </p:handoutMasterIdLst>
  <p:sldIdLst>
    <p:sldId id="322" r:id="rId5"/>
    <p:sldId id="321" r:id="rId6"/>
    <p:sldId id="316" r:id="rId7"/>
    <p:sldId id="315" r:id="rId8"/>
    <p:sldId id="323" r:id="rId9"/>
    <p:sldId id="314" r:id="rId10"/>
    <p:sldId id="324" r:id="rId11"/>
    <p:sldId id="325" r:id="rId12"/>
    <p:sldId id="326" r:id="rId13"/>
    <p:sldId id="312" r:id="rId14"/>
    <p:sldId id="328" r:id="rId15"/>
    <p:sldId id="327" r:id="rId16"/>
    <p:sldId id="31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1A3451-8371-4E93-BE74-4665A06DFF02}" v="8" dt="2026-08-09T17:40:44.479"/>
  </p1510:revLst>
</p1510:revInfo>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p:cViewPr>
        <p:scale>
          <a:sx n="66" d="100"/>
          <a:sy n="66" d="100"/>
        </p:scale>
        <p:origin x="1330" y="322"/>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khethelo Sithole" userId="5df9c85564378905" providerId="LiveId" clId="{5DAB3AB2-BFAA-47D8-ACA3-F64BAB1019AF}"/>
    <pc:docChg chg="custSel addSld modSld sldOrd">
      <pc:chgData name="Zekhethelo Sithole" userId="5df9c85564378905" providerId="LiveId" clId="{5DAB3AB2-BFAA-47D8-ACA3-F64BAB1019AF}" dt="2026-08-09T17:44:24.035" v="189" actId="20577"/>
      <pc:docMkLst>
        <pc:docMk/>
      </pc:docMkLst>
      <pc:sldChg chg="modSp mod">
        <pc:chgData name="Zekhethelo Sithole" userId="5df9c85564378905" providerId="LiveId" clId="{5DAB3AB2-BFAA-47D8-ACA3-F64BAB1019AF}" dt="2026-08-09T17:44:24.035" v="189" actId="20577"/>
        <pc:sldMkLst>
          <pc:docMk/>
          <pc:sldMk cId="88149537" sldId="327"/>
        </pc:sldMkLst>
        <pc:spChg chg="mod">
          <ac:chgData name="Zekhethelo Sithole" userId="5df9c85564378905" providerId="LiveId" clId="{5DAB3AB2-BFAA-47D8-ACA3-F64BAB1019AF}" dt="2026-08-09T17:42:22.822" v="103" actId="14100"/>
          <ac:spMkLst>
            <pc:docMk/>
            <pc:sldMk cId="88149537" sldId="327"/>
            <ac:spMk id="2" creationId="{0D98CA58-663A-0377-C23A-298F9D48C0FA}"/>
          </ac:spMkLst>
        </pc:spChg>
        <pc:spChg chg="mod">
          <ac:chgData name="Zekhethelo Sithole" userId="5df9c85564378905" providerId="LiveId" clId="{5DAB3AB2-BFAA-47D8-ACA3-F64BAB1019AF}" dt="2026-08-09T17:44:24.035" v="189" actId="20577"/>
          <ac:spMkLst>
            <pc:docMk/>
            <pc:sldMk cId="88149537" sldId="327"/>
            <ac:spMk id="3" creationId="{16894535-26F9-573F-3CEE-C0D966A74584}"/>
          </ac:spMkLst>
        </pc:spChg>
      </pc:sldChg>
      <pc:sldChg chg="addSp modSp new mod ord">
        <pc:chgData name="Zekhethelo Sithole" userId="5df9c85564378905" providerId="LiveId" clId="{5DAB3AB2-BFAA-47D8-ACA3-F64BAB1019AF}" dt="2026-08-09T17:41:52.890" v="102"/>
        <pc:sldMkLst>
          <pc:docMk/>
          <pc:sldMk cId="1513665413" sldId="328"/>
        </pc:sldMkLst>
        <pc:spChg chg="mod">
          <ac:chgData name="Zekhethelo Sithole" userId="5df9c85564378905" providerId="LiveId" clId="{5DAB3AB2-BFAA-47D8-ACA3-F64BAB1019AF}" dt="2026-08-09T17:39:46.423" v="71" actId="14100"/>
          <ac:spMkLst>
            <pc:docMk/>
            <pc:sldMk cId="1513665413" sldId="328"/>
            <ac:spMk id="2" creationId="{11074802-DF09-FD54-9D0D-A9A495BB2AD5}"/>
          </ac:spMkLst>
        </pc:spChg>
        <pc:spChg chg="mod">
          <ac:chgData name="Zekhethelo Sithole" userId="5df9c85564378905" providerId="LiveId" clId="{5DAB3AB2-BFAA-47D8-ACA3-F64BAB1019AF}" dt="2026-08-09T17:40:28.826" v="77" actId="20577"/>
          <ac:spMkLst>
            <pc:docMk/>
            <pc:sldMk cId="1513665413" sldId="328"/>
            <ac:spMk id="3" creationId="{FE91C923-DAFF-D21D-E244-161642A919AE}"/>
          </ac:spMkLst>
        </pc:spChg>
        <pc:spChg chg="mod">
          <ac:chgData name="Zekhethelo Sithole" userId="5df9c85564378905" providerId="LiveId" clId="{5DAB3AB2-BFAA-47D8-ACA3-F64BAB1019AF}" dt="2026-08-09T17:40:32.491" v="78" actId="20577"/>
          <ac:spMkLst>
            <pc:docMk/>
            <pc:sldMk cId="1513665413" sldId="328"/>
            <ac:spMk id="4" creationId="{AC330C8E-86B5-74F2-2BDD-7EF1D4130E2E}"/>
          </ac:spMkLst>
        </pc:spChg>
        <pc:spChg chg="add mod">
          <ac:chgData name="Zekhethelo Sithole" userId="5df9c85564378905" providerId="LiveId" clId="{5DAB3AB2-BFAA-47D8-ACA3-F64BAB1019AF}" dt="2026-08-09T17:41:21.101" v="99" actId="20577"/>
          <ac:spMkLst>
            <pc:docMk/>
            <pc:sldMk cId="1513665413" sldId="328"/>
            <ac:spMk id="6" creationId="{E9A771CC-EDF0-A204-4868-8E01F019D0FA}"/>
          </ac:spMkLst>
        </pc:spChg>
        <pc:spChg chg="add mod">
          <ac:chgData name="Zekhethelo Sithole" userId="5df9c85564378905" providerId="LiveId" clId="{5DAB3AB2-BFAA-47D8-ACA3-F64BAB1019AF}" dt="2026-08-09T17:41:32.313" v="100" actId="1076"/>
          <ac:spMkLst>
            <pc:docMk/>
            <pc:sldMk cId="1513665413" sldId="328"/>
            <ac:spMk id="7" creationId="{62031716-4C54-50DA-0D94-E7934E7D753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8/8/2026</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8/8/2026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FA43F5B-065E-43CE-B3FD-98C48A6F94D7}" type="datetime1">
              <a:rPr lang="en-US" smtClean="0"/>
              <a:t>8/8/2026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081591133"/>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0218603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091634851"/>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934399156"/>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EEE2A7A0-B9EE-41A8-8016-28E5803F20B2}" type="datetime1">
              <a:rPr lang="en-US" smtClean="0"/>
              <a:pPr/>
              <a:t>8/8/2026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20850976"/>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3D6F41-6645-4089-A6BB-7B692A44A4CC}" type="datetime1">
              <a:rPr lang="en-US" smtClean="0"/>
              <a:pPr/>
              <a:t>8/8/2026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27004092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3814907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3511907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41412704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FA43F5B-065E-43CE-B3FD-98C48A6F94D7}" type="datetime1">
              <a:rPr lang="en-US" smtClean="0"/>
              <a:pPr/>
              <a:t>8/8/2026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67151677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12627413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18D65601-5AE2-46FC-B138-694DDD2B510D}"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6838093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18D65601-5AE2-46FC-B138-694DDD2B510D}"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68033007"/>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FA43F5B-065E-43CE-B3FD-98C48A6F94D7}" type="datetime1">
              <a:rPr lang="en-US" smtClean="0"/>
              <a:pPr/>
              <a:t>8/8/2026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18D65601-5AE2-46FC-B138-694DDD2B510D}"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5093390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FA43F5B-065E-43CE-B3FD-98C48A6F94D7}" type="datetime1">
              <a:rPr lang="en-US" smtClean="0"/>
              <a:pPr/>
              <a:t>8/8/2026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44712747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506272520"/>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dirty="0"/>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620092924"/>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651883670"/>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8/8/2026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155739163"/>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738060225"/>
      </p:ext>
    </p:extLst>
  </p:cSld>
  <p:clrMapOvr>
    <a:overrideClrMapping bg1="dk1" tx1="lt1" bg2="dk2" tx2="lt2" accent1="accent1" accent2="accent2" accent3="accent3" accent4="accent4" accent5="accent5" accent6="accent6" hlink="hlink" folHlink="folHlink"/>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D63035D-22A0-4334-A9AE-2457016C8B47}" type="datetime1">
              <a:rPr lang="en-US" smtClean="0"/>
              <a:pPr/>
              <a:t>8/8/2026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14195518"/>
      </p:ext>
    </p:extLst>
  </p:cSld>
  <p:clrMapOvr>
    <a:masterClrMapping/>
  </p:clrMapOvr>
  <p:hf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684756485"/>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646490231"/>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775044030"/>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14477642"/>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8504555"/>
      </p:ext>
    </p:extLst>
  </p:cSld>
  <p:clrMapOvr>
    <a:overrideClrMapping bg1="dk1" tx1="lt1" bg2="dk2" tx2="lt2" accent1="accent1" accent2="accent2" accent3="accent3" accent4="accent4" accent5="accent5" accent6="accent6" hlink="hlink" folHlink="folHlink"/>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08469169"/>
      </p:ext>
    </p:extLst>
  </p:cSld>
  <p:clrMapOvr>
    <a:overrideClrMapping bg1="dk1" tx1="lt1" bg2="dk2" tx2="lt2" accent1="accent1" accent2="accent2" accent3="accent3" accent4="accent4" accent5="accent5" accent6="accent6" hlink="hlink" folHlink="folHlink"/>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28607504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4992547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9991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9311511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a:t>Click icon to add picture</a:t>
            </a:r>
            <a:endParaRPr lang="en-US" dirty="0"/>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52774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6401846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722849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00627001"/>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2" r:id="rId15"/>
    <p:sldLayoutId id="2147483843" r:id="rId16"/>
    <p:sldLayoutId id="2147483844" r:id="rId17"/>
    <p:sldLayoutId id="2147483845" r:id="rId18"/>
    <p:sldLayoutId id="2147483846" r:id="rId19"/>
    <p:sldLayoutId id="2147483847" r:id="rId20"/>
    <p:sldLayoutId id="2147483848" r:id="rId21"/>
    <p:sldLayoutId id="2147483849" r:id="rId22"/>
    <p:sldLayoutId id="2147483850" r:id="rId23"/>
    <p:sldLayoutId id="2147483851" r:id="rId24"/>
    <p:sldLayoutId id="2147483852" r:id="rId25"/>
    <p:sldLayoutId id="2147483853" r:id="rId26"/>
    <p:sldLayoutId id="2147483854" r:id="rId27"/>
    <p:sldLayoutId id="2147483855" r:id="rId28"/>
    <p:sldLayoutId id="2147483856" r:id="rId29"/>
    <p:sldLayoutId id="2147483857" r:id="rId30"/>
    <p:sldLayoutId id="2147483858" r:id="rId31"/>
    <p:sldLayoutId id="2147483859" r:id="rId32"/>
    <p:sldLayoutId id="2147483861" r:id="rId33"/>
    <p:sldLayoutId id="2147483863" r:id="rId34"/>
    <p:sldLayoutId id="2147483692" r:id="rId35"/>
    <p:sldLayoutId id="2147483691" r:id="rId36"/>
    <p:sldLayoutId id="2147483690" r:id="rId37"/>
    <p:sldLayoutId id="2147483689" r:id="rId38"/>
  </p:sldLayoutIdLst>
  <p:hf hdr="0" ftr="0" dt="0"/>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317613" y="344129"/>
            <a:ext cx="10146799" cy="3755923"/>
          </a:xfrm>
        </p:spPr>
        <p:txBody>
          <a:bodyPr/>
          <a:lstStyle/>
          <a:p>
            <a:r>
              <a:rPr lang="en-US" dirty="0"/>
              <a:t>ABC Communications Ltd</a:t>
            </a:r>
            <a:br>
              <a:rPr lang="en-US" dirty="0"/>
            </a:br>
            <a:r>
              <a:rPr lang="en-US" dirty="0"/>
              <a:t>Churn Analysis </a:t>
            </a:r>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761-0B88-A5E8-0B78-C39173D05F4D}"/>
              </a:ext>
            </a:extLst>
          </p:cNvPr>
          <p:cNvSpPr>
            <a:spLocks noGrp="1"/>
          </p:cNvSpPr>
          <p:nvPr>
            <p:ph type="title"/>
          </p:nvPr>
        </p:nvSpPr>
        <p:spPr>
          <a:xfrm>
            <a:off x="1258530" y="393290"/>
            <a:ext cx="6587612" cy="1307691"/>
          </a:xfrm>
        </p:spPr>
        <p:txBody>
          <a:bodyPr>
            <a:normAutofit/>
          </a:bodyPr>
          <a:lstStyle/>
          <a:p>
            <a:r>
              <a:rPr lang="en-US" sz="6600" dirty="0"/>
              <a:t>Content</a:t>
            </a:r>
          </a:p>
        </p:txBody>
      </p:sp>
      <p:sp>
        <p:nvSpPr>
          <p:cNvPr id="3" name="Content Placeholder 2">
            <a:extLst>
              <a:ext uri="{FF2B5EF4-FFF2-40B4-BE49-F238E27FC236}">
                <a16:creationId xmlns:a16="http://schemas.microsoft.com/office/drawing/2014/main" id="{02BA04E6-CD61-B962-4287-DEC1993C32D6}"/>
              </a:ext>
            </a:extLst>
          </p:cNvPr>
          <p:cNvSpPr>
            <a:spLocks noGrp="1"/>
          </p:cNvSpPr>
          <p:nvPr>
            <p:ph sz="quarter" idx="12"/>
          </p:nvPr>
        </p:nvSpPr>
        <p:spPr>
          <a:xfrm>
            <a:off x="1258529" y="737115"/>
            <a:ext cx="9579644" cy="5407091"/>
          </a:xfrm>
        </p:spPr>
        <p:txBody>
          <a:bodyPr/>
          <a:lstStyle/>
          <a:p>
            <a:r>
              <a:rPr lang="en-US" dirty="0"/>
              <a:t>Objective</a:t>
            </a:r>
          </a:p>
          <a:p>
            <a:r>
              <a:rPr lang="en-US" dirty="0"/>
              <a:t>Customer Demographics</a:t>
            </a:r>
          </a:p>
          <a:p>
            <a:r>
              <a:rPr lang="en-US" dirty="0"/>
              <a:t>Churn Drivers</a:t>
            </a:r>
          </a:p>
          <a:p>
            <a:r>
              <a:rPr lang="en-US" dirty="0"/>
              <a:t>Insights</a:t>
            </a:r>
          </a:p>
          <a:p>
            <a:r>
              <a:rPr lang="en-US" dirty="0"/>
              <a:t>Risks and Opportunities</a:t>
            </a:r>
          </a:p>
          <a:p>
            <a:r>
              <a:rPr lang="en-US" dirty="0"/>
              <a:t>Recommendations</a:t>
            </a:r>
          </a:p>
        </p:txBody>
      </p:sp>
      <p:sp>
        <p:nvSpPr>
          <p:cNvPr id="4" name="Slide Number Placeholder 3">
            <a:extLst>
              <a:ext uri="{FF2B5EF4-FFF2-40B4-BE49-F238E27FC236}">
                <a16:creationId xmlns:a16="http://schemas.microsoft.com/office/drawing/2014/main" id="{2CD4601E-33F5-5714-867D-A0B584DA7C11}"/>
              </a:ext>
            </a:extLst>
          </p:cNvPr>
          <p:cNvSpPr>
            <a:spLocks noGrp="1"/>
          </p:cNvSpPr>
          <p:nvPr>
            <p:ph type="sldNum" sz="quarter" idx="15"/>
          </p:nvPr>
        </p:nvSpPr>
        <p:spPr/>
        <p:txBody>
          <a:bodyPr/>
          <a:lstStyle/>
          <a:p>
            <a:fld id="{18D65601-5AE2-46FC-B138-694DDD2B510D}" type="slidenum">
              <a:rPr lang="en-US" smtClean="0"/>
              <a:pPr/>
              <a:t>2</a:t>
            </a:fld>
            <a:endParaRPr lang="en-US" dirty="0"/>
          </a:p>
        </p:txBody>
      </p:sp>
    </p:spTree>
    <p:extLst>
      <p:ext uri="{BB962C8B-B14F-4D97-AF65-F5344CB8AC3E}">
        <p14:creationId xmlns:p14="http://schemas.microsoft.com/office/powerpoint/2010/main"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6F71E8-8D71-9405-3A01-01C3B8F86877}"/>
              </a:ext>
            </a:extLst>
          </p:cNvPr>
          <p:cNvSpPr>
            <a:spLocks noGrp="1"/>
          </p:cNvSpPr>
          <p:nvPr>
            <p:ph type="title"/>
          </p:nvPr>
        </p:nvSpPr>
        <p:spPr>
          <a:xfrm>
            <a:off x="1468814" y="503852"/>
            <a:ext cx="9808773" cy="1427585"/>
          </a:xfrm>
        </p:spPr>
        <p:txBody>
          <a:bodyPr anchor="b">
            <a:normAutofit/>
          </a:bodyPr>
          <a:lstStyle/>
          <a:p>
            <a:r>
              <a:rPr lang="en-US" dirty="0"/>
              <a:t>Objective</a:t>
            </a:r>
            <a:endParaRPr lang="en-ZA" dirty="0"/>
          </a:p>
        </p:txBody>
      </p:sp>
      <p:sp>
        <p:nvSpPr>
          <p:cNvPr id="2" name="Content Placeholder 1">
            <a:extLst>
              <a:ext uri="{FF2B5EF4-FFF2-40B4-BE49-F238E27FC236}">
                <a16:creationId xmlns:a16="http://schemas.microsoft.com/office/drawing/2014/main" id="{C7992593-AF79-3D1E-E253-0765DF0F513F}"/>
              </a:ext>
            </a:extLst>
          </p:cNvPr>
          <p:cNvSpPr>
            <a:spLocks noGrp="1"/>
          </p:cNvSpPr>
          <p:nvPr>
            <p:ph sz="quarter" idx="10"/>
          </p:nvPr>
        </p:nvSpPr>
        <p:spPr>
          <a:xfrm>
            <a:off x="1468814" y="2708475"/>
            <a:ext cx="6452876" cy="3437681"/>
          </a:xfrm>
        </p:spPr>
        <p:txBody>
          <a:bodyPr>
            <a:normAutofit/>
          </a:bodyPr>
          <a:lstStyle/>
          <a:p>
            <a:r>
              <a:rPr lang="en-US" dirty="0"/>
              <a:t>ABC Communications is trying to understand why its customers churn and needs retention strategies to help them keep their customers.</a:t>
            </a:r>
          </a:p>
          <a:p>
            <a:r>
              <a:rPr lang="en-US" dirty="0"/>
              <a:t>They also want to understand their customer base better and how their customers interact with the company to help them identify risks and opportunities.</a:t>
            </a:r>
          </a:p>
          <a:p>
            <a:pPr marL="0" indent="0">
              <a:buNone/>
            </a:pPr>
            <a:endParaRPr lang="en-US" dirty="0"/>
          </a:p>
          <a:p>
            <a:endParaRPr lang="en-US" dirty="0"/>
          </a:p>
          <a:p>
            <a:endParaRPr lang="en-US" dirty="0"/>
          </a:p>
        </p:txBody>
      </p:sp>
      <p:pic>
        <p:nvPicPr>
          <p:cNvPr id="7" name="Content Placeholder 6">
            <a:extLst>
              <a:ext uri="{FF2B5EF4-FFF2-40B4-BE49-F238E27FC236}">
                <a16:creationId xmlns:a16="http://schemas.microsoft.com/office/drawing/2014/main" id="{92CA4EFB-68C9-2D32-B935-B90AFC8AFF7B}"/>
              </a:ext>
            </a:extLst>
          </p:cNvPr>
          <p:cNvPicPr>
            <a:picLocks noGrp="1" noChangeAspect="1"/>
          </p:cNvPicPr>
          <p:nvPr>
            <p:ph sz="quarter" idx="11"/>
          </p:nvPr>
        </p:nvPicPr>
        <p:blipFill>
          <a:blip r:embed="rId2"/>
          <a:stretch>
            <a:fillRect/>
          </a:stretch>
        </p:blipFill>
        <p:spPr>
          <a:xfrm rot="10800000" flipV="1">
            <a:off x="8736356" y="2307408"/>
            <a:ext cx="3108391" cy="3108391"/>
          </a:xfrm>
          <a:prstGeom prst="rect">
            <a:avLst/>
          </a:prstGeom>
          <a:noFill/>
        </p:spPr>
      </p:pic>
      <p:sp>
        <p:nvSpPr>
          <p:cNvPr id="5" name="Slide Number Placeholder 4">
            <a:extLst>
              <a:ext uri="{FF2B5EF4-FFF2-40B4-BE49-F238E27FC236}">
                <a16:creationId xmlns:a16="http://schemas.microsoft.com/office/drawing/2014/main" id="{A34518A5-1C9D-79F3-349C-3E7AAFD98951}"/>
              </a:ext>
            </a:extLst>
          </p:cNvPr>
          <p:cNvSpPr>
            <a:spLocks noGrp="1"/>
          </p:cNvSpPr>
          <p:nvPr>
            <p:ph type="sldNum" sz="quarter" idx="1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3</a:t>
            </a:fld>
            <a:endParaRPr lang="en-US"/>
          </a:p>
        </p:txBody>
      </p:sp>
    </p:spTree>
    <p:extLst>
      <p:ext uri="{BB962C8B-B14F-4D97-AF65-F5344CB8AC3E}">
        <p14:creationId xmlns:p14="http://schemas.microsoft.com/office/powerpoint/2010/main" val="554382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C15354-374E-4710-792F-592E588BAAE2}"/>
              </a:ext>
            </a:extLst>
          </p:cNvPr>
          <p:cNvSpPr>
            <a:spLocks noGrp="1"/>
          </p:cNvSpPr>
          <p:nvPr>
            <p:ph type="title"/>
          </p:nvPr>
        </p:nvSpPr>
        <p:spPr>
          <a:xfrm>
            <a:off x="1468814" y="503852"/>
            <a:ext cx="9808773" cy="1022471"/>
          </a:xfrm>
        </p:spPr>
        <p:txBody>
          <a:bodyPr anchor="b">
            <a:normAutofit/>
          </a:bodyPr>
          <a:lstStyle/>
          <a:p>
            <a:r>
              <a:rPr lang="en-US" dirty="0"/>
              <a:t>Customer Demographics</a:t>
            </a:r>
            <a:endParaRPr lang="en-ZA" dirty="0"/>
          </a:p>
        </p:txBody>
      </p:sp>
      <p:sp>
        <p:nvSpPr>
          <p:cNvPr id="4" name="Content Placeholder 3">
            <a:extLst>
              <a:ext uri="{FF2B5EF4-FFF2-40B4-BE49-F238E27FC236}">
                <a16:creationId xmlns:a16="http://schemas.microsoft.com/office/drawing/2014/main" id="{685D951B-D6C0-AB0A-0FFD-23670BE643EE}"/>
              </a:ext>
            </a:extLst>
          </p:cNvPr>
          <p:cNvSpPr>
            <a:spLocks noGrp="1"/>
          </p:cNvSpPr>
          <p:nvPr>
            <p:ph sz="quarter" idx="12"/>
          </p:nvPr>
        </p:nvSpPr>
        <p:spPr>
          <a:xfrm>
            <a:off x="1381119" y="2141315"/>
            <a:ext cx="4627186" cy="3802285"/>
          </a:xfrm>
        </p:spPr>
        <p:txBody>
          <a:bodyPr>
            <a:normAutofit/>
          </a:bodyPr>
          <a:lstStyle/>
          <a:p>
            <a:pPr marL="342900" indent="-342900">
              <a:buFont typeface="Arial" panose="020B0604020202020204" pitchFamily="34" charset="0"/>
              <a:buChar char="•"/>
            </a:pPr>
            <a:r>
              <a:rPr lang="en-US" dirty="0"/>
              <a:t>Client gender is almost evenly distributed, with males representing 50.5% and females 49.5%.</a:t>
            </a:r>
          </a:p>
          <a:p>
            <a:endParaRPr lang="en-US" dirty="0"/>
          </a:p>
          <a:p>
            <a:endParaRPr lang="en-US" dirty="0"/>
          </a:p>
          <a:p>
            <a:pPr marL="342900" indent="-342900">
              <a:buFont typeface="Arial" panose="020B0604020202020204" pitchFamily="34" charset="0"/>
              <a:buChar char="•"/>
            </a:pPr>
            <a:r>
              <a:rPr lang="en-US" dirty="0"/>
              <a:t>16.2% of clients are senior citizens and 83.8% are non-senior citizens.</a:t>
            </a:r>
          </a:p>
        </p:txBody>
      </p:sp>
      <p:pic>
        <p:nvPicPr>
          <p:cNvPr id="11" name="Content Placeholder 10">
            <a:extLst>
              <a:ext uri="{FF2B5EF4-FFF2-40B4-BE49-F238E27FC236}">
                <a16:creationId xmlns:a16="http://schemas.microsoft.com/office/drawing/2014/main" id="{B482962F-4BC0-28FD-D55C-98E3E6889EDF}"/>
              </a:ext>
            </a:extLst>
          </p:cNvPr>
          <p:cNvPicPr>
            <a:picLocks noGrp="1" noChangeAspect="1"/>
          </p:cNvPicPr>
          <p:nvPr>
            <p:ph sz="quarter" idx="11"/>
          </p:nvPr>
        </p:nvPicPr>
        <p:blipFill>
          <a:blip r:embed="rId2"/>
          <a:srcRect l="7602" r="3165" b="3"/>
          <a:stretch>
            <a:fillRect/>
          </a:stretch>
        </p:blipFill>
        <p:spPr>
          <a:xfrm>
            <a:off x="8194877" y="1526324"/>
            <a:ext cx="2920662" cy="2610223"/>
          </a:xfrm>
          <a:prstGeom prst="rect">
            <a:avLst/>
          </a:prstGeom>
          <a:noFill/>
        </p:spPr>
      </p:pic>
      <p:sp>
        <p:nvSpPr>
          <p:cNvPr id="5" name="Slide Number Placeholder 4">
            <a:extLst>
              <a:ext uri="{FF2B5EF4-FFF2-40B4-BE49-F238E27FC236}">
                <a16:creationId xmlns:a16="http://schemas.microsoft.com/office/drawing/2014/main" id="{25756543-DA8C-CEE2-0E13-19DE61C1349B}"/>
              </a:ext>
            </a:extLst>
          </p:cNvPr>
          <p:cNvSpPr>
            <a:spLocks noGrp="1"/>
          </p:cNvSpPr>
          <p:nvPr>
            <p:ph type="sldNum" sz="quarter" idx="1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4</a:t>
            </a:fld>
            <a:endParaRPr lang="en-US"/>
          </a:p>
        </p:txBody>
      </p:sp>
      <p:pic>
        <p:nvPicPr>
          <p:cNvPr id="15" name="Picture 14">
            <a:extLst>
              <a:ext uri="{FF2B5EF4-FFF2-40B4-BE49-F238E27FC236}">
                <a16:creationId xmlns:a16="http://schemas.microsoft.com/office/drawing/2014/main" id="{0952D9CF-B014-E1E5-CB3F-8A7AEBCD41D6}"/>
              </a:ext>
            </a:extLst>
          </p:cNvPr>
          <p:cNvPicPr>
            <a:picLocks noChangeAspect="1"/>
          </p:cNvPicPr>
          <p:nvPr/>
        </p:nvPicPr>
        <p:blipFill>
          <a:blip r:embed="rId3"/>
          <a:stretch>
            <a:fillRect/>
          </a:stretch>
        </p:blipFill>
        <p:spPr>
          <a:xfrm>
            <a:off x="8121683" y="4356465"/>
            <a:ext cx="3067050" cy="2379608"/>
          </a:xfrm>
          <a:prstGeom prst="rect">
            <a:avLst/>
          </a:prstGeom>
        </p:spPr>
      </p:pic>
    </p:spTree>
    <p:extLst>
      <p:ext uri="{BB962C8B-B14F-4D97-AF65-F5344CB8AC3E}">
        <p14:creationId xmlns:p14="http://schemas.microsoft.com/office/powerpoint/2010/main" val="2302010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875B0-1AC3-573D-BB11-6AAA93D2C0AB}"/>
              </a:ext>
            </a:extLst>
          </p:cNvPr>
          <p:cNvSpPr>
            <a:spLocks noGrp="1"/>
          </p:cNvSpPr>
          <p:nvPr>
            <p:ph type="title"/>
          </p:nvPr>
        </p:nvSpPr>
        <p:spPr>
          <a:xfrm>
            <a:off x="1468814" y="503853"/>
            <a:ext cx="9808773" cy="827108"/>
          </a:xfrm>
        </p:spPr>
        <p:txBody>
          <a:bodyPr/>
          <a:lstStyle/>
          <a:p>
            <a:r>
              <a:rPr lang="en-ZA" dirty="0"/>
              <a:t>Customer Demographics</a:t>
            </a:r>
          </a:p>
        </p:txBody>
      </p:sp>
      <p:pic>
        <p:nvPicPr>
          <p:cNvPr id="7" name="Content Placeholder 6">
            <a:extLst>
              <a:ext uri="{FF2B5EF4-FFF2-40B4-BE49-F238E27FC236}">
                <a16:creationId xmlns:a16="http://schemas.microsoft.com/office/drawing/2014/main" id="{A0F19595-12D6-AA98-8C61-DB5FE4C393EC}"/>
              </a:ext>
            </a:extLst>
          </p:cNvPr>
          <p:cNvPicPr>
            <a:picLocks noGrp="1" noChangeAspect="1"/>
          </p:cNvPicPr>
          <p:nvPr>
            <p:ph sz="quarter" idx="12"/>
          </p:nvPr>
        </p:nvPicPr>
        <p:blipFill>
          <a:blip r:embed="rId2"/>
          <a:stretch>
            <a:fillRect/>
          </a:stretch>
        </p:blipFill>
        <p:spPr>
          <a:xfrm>
            <a:off x="1265238" y="1418454"/>
            <a:ext cx="4627562" cy="3446735"/>
          </a:xfrm>
          <a:prstGeom prst="rect">
            <a:avLst/>
          </a:prstGeom>
        </p:spPr>
      </p:pic>
      <p:pic>
        <p:nvPicPr>
          <p:cNvPr id="9" name="Content Placeholder 8">
            <a:extLst>
              <a:ext uri="{FF2B5EF4-FFF2-40B4-BE49-F238E27FC236}">
                <a16:creationId xmlns:a16="http://schemas.microsoft.com/office/drawing/2014/main" id="{BC37DD07-4D13-9179-C22D-1C8B90FE87DB}"/>
              </a:ext>
            </a:extLst>
          </p:cNvPr>
          <p:cNvPicPr>
            <a:picLocks noGrp="1" noChangeAspect="1"/>
          </p:cNvPicPr>
          <p:nvPr>
            <p:ph sz="quarter" idx="11"/>
          </p:nvPr>
        </p:nvPicPr>
        <p:blipFill>
          <a:blip r:embed="rId3"/>
          <a:stretch>
            <a:fillRect/>
          </a:stretch>
        </p:blipFill>
        <p:spPr>
          <a:xfrm>
            <a:off x="6860540" y="1431460"/>
            <a:ext cx="4610100" cy="3433729"/>
          </a:xfrm>
          <a:prstGeom prst="rect">
            <a:avLst/>
          </a:prstGeom>
        </p:spPr>
      </p:pic>
      <p:sp>
        <p:nvSpPr>
          <p:cNvPr id="5" name="Slide Number Placeholder 4">
            <a:extLst>
              <a:ext uri="{FF2B5EF4-FFF2-40B4-BE49-F238E27FC236}">
                <a16:creationId xmlns:a16="http://schemas.microsoft.com/office/drawing/2014/main" id="{861A8B6E-29DA-34F8-6861-0AC257E5C097}"/>
              </a:ext>
            </a:extLst>
          </p:cNvPr>
          <p:cNvSpPr>
            <a:spLocks noGrp="1"/>
          </p:cNvSpPr>
          <p:nvPr>
            <p:ph type="sldNum" sz="quarter" idx="15"/>
          </p:nvPr>
        </p:nvSpPr>
        <p:spPr/>
        <p:txBody>
          <a:bodyPr/>
          <a:lstStyle/>
          <a:p>
            <a:fld id="{18D65601-5AE2-46FC-B138-694DDD2B510D}" type="slidenum">
              <a:rPr lang="en-US" smtClean="0"/>
              <a:pPr/>
              <a:t>5</a:t>
            </a:fld>
            <a:endParaRPr lang="en-US" dirty="0"/>
          </a:p>
        </p:txBody>
      </p:sp>
      <p:sp>
        <p:nvSpPr>
          <p:cNvPr id="10" name="TextBox 9">
            <a:extLst>
              <a:ext uri="{FF2B5EF4-FFF2-40B4-BE49-F238E27FC236}">
                <a16:creationId xmlns:a16="http://schemas.microsoft.com/office/drawing/2014/main" id="{3C567D89-AFE7-B8D9-37F2-DD30D42E8F1E}"/>
              </a:ext>
            </a:extLst>
          </p:cNvPr>
          <p:cNvSpPr txBox="1"/>
          <p:nvPr/>
        </p:nvSpPr>
        <p:spPr>
          <a:xfrm>
            <a:off x="1127760" y="5081229"/>
            <a:ext cx="6786880" cy="646331"/>
          </a:xfrm>
          <a:prstGeom prst="rect">
            <a:avLst/>
          </a:prstGeom>
          <a:noFill/>
        </p:spPr>
        <p:txBody>
          <a:bodyPr wrap="square" rtlCol="0">
            <a:spAutoFit/>
          </a:bodyPr>
          <a:lstStyle/>
          <a:p>
            <a:pPr marL="285750" indent="-285750">
              <a:buFont typeface="Arial" panose="020B0604020202020204" pitchFamily="34" charset="0"/>
              <a:buChar char="•"/>
            </a:pPr>
            <a:r>
              <a:rPr lang="en-ZA" dirty="0"/>
              <a:t>30%</a:t>
            </a:r>
            <a:r>
              <a:rPr lang="en-ZA" b="1" dirty="0"/>
              <a:t> </a:t>
            </a:r>
            <a:r>
              <a:rPr lang="en-ZA" dirty="0"/>
              <a:t>of clients have dependents.</a:t>
            </a:r>
          </a:p>
          <a:p>
            <a:pPr marL="285750" indent="-285750">
              <a:buFont typeface="Arial" panose="020B0604020202020204" pitchFamily="34" charset="0"/>
              <a:buChar char="•"/>
            </a:pPr>
            <a:r>
              <a:rPr lang="en-ZA" dirty="0"/>
              <a:t>48.3% of clients have partners.</a:t>
            </a:r>
          </a:p>
        </p:txBody>
      </p:sp>
    </p:spTree>
    <p:extLst>
      <p:ext uri="{BB962C8B-B14F-4D97-AF65-F5344CB8AC3E}">
        <p14:creationId xmlns:p14="http://schemas.microsoft.com/office/powerpoint/2010/main" val="2158546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2EF1C1-5933-D909-38D2-D22F630A85FE}"/>
              </a:ext>
            </a:extLst>
          </p:cNvPr>
          <p:cNvSpPr>
            <a:spLocks noGrp="1"/>
          </p:cNvSpPr>
          <p:nvPr>
            <p:ph type="title"/>
          </p:nvPr>
        </p:nvSpPr>
        <p:spPr>
          <a:xfrm>
            <a:off x="1265281" y="329879"/>
            <a:ext cx="9808773" cy="694481"/>
          </a:xfrm>
        </p:spPr>
        <p:txBody>
          <a:bodyPr>
            <a:normAutofit/>
          </a:bodyPr>
          <a:lstStyle/>
          <a:p>
            <a:r>
              <a:rPr lang="en-ZA" dirty="0"/>
              <a:t>Churn Drivers</a:t>
            </a:r>
          </a:p>
        </p:txBody>
      </p:sp>
      <p:sp>
        <p:nvSpPr>
          <p:cNvPr id="3" name="Content Placeholder 2">
            <a:extLst>
              <a:ext uri="{FF2B5EF4-FFF2-40B4-BE49-F238E27FC236}">
                <a16:creationId xmlns:a16="http://schemas.microsoft.com/office/drawing/2014/main" id="{43B3004F-891E-E0B4-FC2D-A5949EC33A3D}"/>
              </a:ext>
            </a:extLst>
          </p:cNvPr>
          <p:cNvSpPr>
            <a:spLocks noGrp="1"/>
          </p:cNvSpPr>
          <p:nvPr>
            <p:ph sz="quarter" idx="11"/>
          </p:nvPr>
        </p:nvSpPr>
        <p:spPr>
          <a:xfrm>
            <a:off x="1265281" y="4598045"/>
            <a:ext cx="7820754" cy="1235595"/>
          </a:xfrm>
        </p:spPr>
        <p:txBody>
          <a:bodyPr>
            <a:normAutofit fontScale="70000" lnSpcReduction="20000"/>
          </a:bodyPr>
          <a:lstStyle/>
          <a:p>
            <a:pPr marL="342900" indent="-342900">
              <a:buFont typeface="Arial" panose="020B0604020202020204" pitchFamily="34" charset="0"/>
              <a:buChar char="•"/>
            </a:pPr>
            <a:r>
              <a:rPr lang="en-ZA" dirty="0"/>
              <a:t>Clients with dependents have a low churn rate of 15.5% compared to 31.3% among those who don’t.</a:t>
            </a:r>
          </a:p>
          <a:p>
            <a:pPr marL="342900" indent="-342900">
              <a:buFont typeface="Arial" panose="020B0604020202020204" pitchFamily="34" charset="0"/>
              <a:buChar char="•"/>
            </a:pPr>
            <a:r>
              <a:rPr lang="en-ZA" dirty="0"/>
              <a:t>Clients with partners churn at 19.7% compared to 33% for those without partners.</a:t>
            </a:r>
          </a:p>
          <a:p>
            <a:pPr marL="342900" indent="-342900">
              <a:buFont typeface="Arial" panose="020B0604020202020204" pitchFamily="34" charset="0"/>
              <a:buChar char="•"/>
            </a:pPr>
            <a:endParaRPr lang="en-ZA" dirty="0"/>
          </a:p>
          <a:p>
            <a:pPr marL="342900" indent="-342900">
              <a:buFont typeface="Arial" panose="020B0604020202020204" pitchFamily="34" charset="0"/>
              <a:buChar char="•"/>
            </a:pPr>
            <a:endParaRPr lang="en-US" dirty="0"/>
          </a:p>
        </p:txBody>
      </p:sp>
      <p:sp>
        <p:nvSpPr>
          <p:cNvPr id="2" name="Slide Number Placeholder 1">
            <a:extLst>
              <a:ext uri="{FF2B5EF4-FFF2-40B4-BE49-F238E27FC236}">
                <a16:creationId xmlns:a16="http://schemas.microsoft.com/office/drawing/2014/main" id="{C1D94129-1999-7159-E6E3-7D6C478655BD}"/>
              </a:ext>
            </a:extLst>
          </p:cNvPr>
          <p:cNvSpPr>
            <a:spLocks noGrp="1"/>
          </p:cNvSpPr>
          <p:nvPr>
            <p:ph type="sldNum" sz="quarter" idx="15"/>
          </p:nvPr>
        </p:nvSpPr>
        <p:spPr/>
        <p:txBody>
          <a:bodyPr/>
          <a:lstStyle/>
          <a:p>
            <a:fld id="{18D65601-5AE2-46FC-B138-694DDD2B510D}" type="slidenum">
              <a:rPr lang="en-US" smtClean="0"/>
              <a:pPr/>
              <a:t>6</a:t>
            </a:fld>
            <a:endParaRPr lang="en-US" dirty="0"/>
          </a:p>
        </p:txBody>
      </p:sp>
      <p:pic>
        <p:nvPicPr>
          <p:cNvPr id="14" name="Picture 13">
            <a:extLst>
              <a:ext uri="{FF2B5EF4-FFF2-40B4-BE49-F238E27FC236}">
                <a16:creationId xmlns:a16="http://schemas.microsoft.com/office/drawing/2014/main" id="{6CEE918B-41E2-AF74-4048-B02B43000B2A}"/>
              </a:ext>
            </a:extLst>
          </p:cNvPr>
          <p:cNvPicPr>
            <a:picLocks noChangeAspect="1"/>
          </p:cNvPicPr>
          <p:nvPr/>
        </p:nvPicPr>
        <p:blipFill>
          <a:blip r:embed="rId2"/>
          <a:stretch>
            <a:fillRect/>
          </a:stretch>
        </p:blipFill>
        <p:spPr>
          <a:xfrm>
            <a:off x="6096000" y="1390779"/>
            <a:ext cx="3794539" cy="2997422"/>
          </a:xfrm>
          <a:prstGeom prst="rect">
            <a:avLst/>
          </a:prstGeom>
        </p:spPr>
      </p:pic>
      <p:pic>
        <p:nvPicPr>
          <p:cNvPr id="16" name="Picture 15">
            <a:extLst>
              <a:ext uri="{FF2B5EF4-FFF2-40B4-BE49-F238E27FC236}">
                <a16:creationId xmlns:a16="http://schemas.microsoft.com/office/drawing/2014/main" id="{4AF10149-D2D5-D428-1CC5-0258CAB1020F}"/>
              </a:ext>
            </a:extLst>
          </p:cNvPr>
          <p:cNvPicPr>
            <a:picLocks noChangeAspect="1"/>
          </p:cNvPicPr>
          <p:nvPr/>
        </p:nvPicPr>
        <p:blipFill>
          <a:blip r:embed="rId3"/>
          <a:stretch>
            <a:fillRect/>
          </a:stretch>
        </p:blipFill>
        <p:spPr>
          <a:xfrm>
            <a:off x="1265281" y="1390779"/>
            <a:ext cx="3794539" cy="2997422"/>
          </a:xfrm>
          <a:prstGeom prst="rect">
            <a:avLst/>
          </a:prstGeom>
        </p:spPr>
      </p:pic>
    </p:spTree>
    <p:extLst>
      <p:ext uri="{BB962C8B-B14F-4D97-AF65-F5344CB8AC3E}">
        <p14:creationId xmlns:p14="http://schemas.microsoft.com/office/powerpoint/2010/main" val="82250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2C25D-CDC5-BCF8-77F5-4E0484D304A2}"/>
              </a:ext>
            </a:extLst>
          </p:cNvPr>
          <p:cNvSpPr>
            <a:spLocks noGrp="1"/>
          </p:cNvSpPr>
          <p:nvPr>
            <p:ph type="title"/>
          </p:nvPr>
        </p:nvSpPr>
        <p:spPr>
          <a:xfrm>
            <a:off x="1381119" y="179761"/>
            <a:ext cx="9808773" cy="734639"/>
          </a:xfrm>
        </p:spPr>
        <p:txBody>
          <a:bodyPr anchor="b">
            <a:normAutofit/>
          </a:bodyPr>
          <a:lstStyle/>
          <a:p>
            <a:r>
              <a:rPr lang="en-ZA" dirty="0"/>
              <a:t>Churn Drivers</a:t>
            </a:r>
          </a:p>
        </p:txBody>
      </p:sp>
      <p:pic>
        <p:nvPicPr>
          <p:cNvPr id="7" name="Picture 6">
            <a:extLst>
              <a:ext uri="{FF2B5EF4-FFF2-40B4-BE49-F238E27FC236}">
                <a16:creationId xmlns:a16="http://schemas.microsoft.com/office/drawing/2014/main" id="{2CCFAD26-AA7E-3D40-0A00-5A724622A624}"/>
              </a:ext>
            </a:extLst>
          </p:cNvPr>
          <p:cNvPicPr>
            <a:picLocks noChangeAspect="1"/>
          </p:cNvPicPr>
          <p:nvPr/>
        </p:nvPicPr>
        <p:blipFill>
          <a:blip r:embed="rId2"/>
          <a:srcRect r="9858" b="-2"/>
          <a:stretch>
            <a:fillRect/>
          </a:stretch>
        </p:blipFill>
        <p:spPr>
          <a:xfrm>
            <a:off x="1191021" y="1166151"/>
            <a:ext cx="4627186" cy="3810963"/>
          </a:xfrm>
          <a:prstGeom prst="rect">
            <a:avLst/>
          </a:prstGeom>
          <a:noFill/>
        </p:spPr>
      </p:pic>
      <p:pic>
        <p:nvPicPr>
          <p:cNvPr id="9" name="Picture 8">
            <a:extLst>
              <a:ext uri="{FF2B5EF4-FFF2-40B4-BE49-F238E27FC236}">
                <a16:creationId xmlns:a16="http://schemas.microsoft.com/office/drawing/2014/main" id="{2ABCEA86-A368-1483-DA60-82AB8E53F6BB}"/>
              </a:ext>
            </a:extLst>
          </p:cNvPr>
          <p:cNvPicPr>
            <a:picLocks noChangeAspect="1"/>
          </p:cNvPicPr>
          <p:nvPr/>
        </p:nvPicPr>
        <p:blipFill>
          <a:blip r:embed="rId3"/>
          <a:srcRect r="10204" b="-2"/>
          <a:stretch>
            <a:fillRect/>
          </a:stretch>
        </p:blipFill>
        <p:spPr>
          <a:xfrm>
            <a:off x="6673091" y="1166151"/>
            <a:ext cx="4609399" cy="3810963"/>
          </a:xfrm>
          <a:prstGeom prst="rect">
            <a:avLst/>
          </a:prstGeom>
          <a:noFill/>
        </p:spPr>
      </p:pic>
      <p:sp>
        <p:nvSpPr>
          <p:cNvPr id="5" name="Slide Number Placeholder 4">
            <a:extLst>
              <a:ext uri="{FF2B5EF4-FFF2-40B4-BE49-F238E27FC236}">
                <a16:creationId xmlns:a16="http://schemas.microsoft.com/office/drawing/2014/main" id="{65BB1530-2344-3230-20BE-F88A9252DA3B}"/>
              </a:ext>
            </a:extLst>
          </p:cNvPr>
          <p:cNvSpPr>
            <a:spLocks noGrp="1"/>
          </p:cNvSpPr>
          <p:nvPr>
            <p:ph type="sldNum" sz="quarter" idx="1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7</a:t>
            </a:fld>
            <a:endParaRPr lang="en-US"/>
          </a:p>
        </p:txBody>
      </p:sp>
      <p:sp>
        <p:nvSpPr>
          <p:cNvPr id="10" name="TextBox 9">
            <a:extLst>
              <a:ext uri="{FF2B5EF4-FFF2-40B4-BE49-F238E27FC236}">
                <a16:creationId xmlns:a16="http://schemas.microsoft.com/office/drawing/2014/main" id="{CCAB80B3-4E5B-E73B-60BB-4DC5921E1FCE}"/>
              </a:ext>
            </a:extLst>
          </p:cNvPr>
          <p:cNvSpPr txBox="1"/>
          <p:nvPr/>
        </p:nvSpPr>
        <p:spPr>
          <a:xfrm>
            <a:off x="1191021" y="5228865"/>
            <a:ext cx="10174580" cy="646331"/>
          </a:xfrm>
          <a:prstGeom prst="rect">
            <a:avLst/>
          </a:prstGeom>
          <a:noFill/>
        </p:spPr>
        <p:txBody>
          <a:bodyPr wrap="none" rtlCol="0">
            <a:spAutoFit/>
          </a:bodyPr>
          <a:lstStyle/>
          <a:p>
            <a:pPr marL="285750" indent="-285750">
              <a:buFont typeface="Arial" panose="020B0604020202020204" pitchFamily="34" charset="0"/>
              <a:buChar char="•"/>
            </a:pPr>
            <a:r>
              <a:rPr lang="en-ZA" dirty="0"/>
              <a:t>Churn is very high during the first few months then is weaker as the customer stays longer.</a:t>
            </a:r>
          </a:p>
          <a:p>
            <a:pPr marL="285750" indent="-285750">
              <a:buFont typeface="Arial" panose="020B0604020202020204" pitchFamily="34" charset="0"/>
              <a:buChar char="•"/>
            </a:pPr>
            <a:r>
              <a:rPr lang="en-ZA" dirty="0"/>
              <a:t>Month-to-month clients churn almost as twice as much as longer contract clients.</a:t>
            </a:r>
          </a:p>
        </p:txBody>
      </p:sp>
    </p:spTree>
    <p:extLst>
      <p:ext uri="{BB962C8B-B14F-4D97-AF65-F5344CB8AC3E}">
        <p14:creationId xmlns:p14="http://schemas.microsoft.com/office/powerpoint/2010/main" val="386632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7CCAB-7169-C7CD-8BED-D038B9EC04F3}"/>
              </a:ext>
            </a:extLst>
          </p:cNvPr>
          <p:cNvSpPr>
            <a:spLocks noGrp="1"/>
          </p:cNvSpPr>
          <p:nvPr>
            <p:ph type="title"/>
          </p:nvPr>
        </p:nvSpPr>
        <p:spPr>
          <a:xfrm>
            <a:off x="1381119" y="168186"/>
            <a:ext cx="9808773" cy="734639"/>
          </a:xfrm>
        </p:spPr>
        <p:txBody>
          <a:bodyPr anchor="b">
            <a:normAutofit/>
          </a:bodyPr>
          <a:lstStyle/>
          <a:p>
            <a:r>
              <a:rPr lang="en-ZA" dirty="0"/>
              <a:t>Churn Drivers</a:t>
            </a:r>
          </a:p>
        </p:txBody>
      </p:sp>
      <p:pic>
        <p:nvPicPr>
          <p:cNvPr id="9" name="Picture 8">
            <a:extLst>
              <a:ext uri="{FF2B5EF4-FFF2-40B4-BE49-F238E27FC236}">
                <a16:creationId xmlns:a16="http://schemas.microsoft.com/office/drawing/2014/main" id="{AEC3A7DC-75F8-8D95-D73A-2957D3C0BA75}"/>
              </a:ext>
            </a:extLst>
          </p:cNvPr>
          <p:cNvPicPr>
            <a:picLocks noChangeAspect="1"/>
          </p:cNvPicPr>
          <p:nvPr/>
        </p:nvPicPr>
        <p:blipFill>
          <a:blip r:embed="rId2"/>
          <a:srcRect l="1140" r="8718" b="-2"/>
          <a:stretch>
            <a:fillRect/>
          </a:stretch>
        </p:blipFill>
        <p:spPr>
          <a:xfrm>
            <a:off x="1381119" y="1056190"/>
            <a:ext cx="4627186" cy="3596833"/>
          </a:xfrm>
          <a:prstGeom prst="rect">
            <a:avLst/>
          </a:prstGeom>
          <a:noFill/>
        </p:spPr>
      </p:pic>
      <p:pic>
        <p:nvPicPr>
          <p:cNvPr id="7" name="Picture 6">
            <a:extLst>
              <a:ext uri="{FF2B5EF4-FFF2-40B4-BE49-F238E27FC236}">
                <a16:creationId xmlns:a16="http://schemas.microsoft.com/office/drawing/2014/main" id="{28685455-CD28-59A4-230C-16A87E994D8C}"/>
              </a:ext>
            </a:extLst>
          </p:cNvPr>
          <p:cNvPicPr>
            <a:picLocks noChangeAspect="1"/>
          </p:cNvPicPr>
          <p:nvPr/>
        </p:nvPicPr>
        <p:blipFill>
          <a:blip r:embed="rId3"/>
          <a:srcRect t="690" r="3" b="11729"/>
          <a:stretch>
            <a:fillRect/>
          </a:stretch>
        </p:blipFill>
        <p:spPr>
          <a:xfrm>
            <a:off x="6459841" y="1056190"/>
            <a:ext cx="4609399" cy="3596833"/>
          </a:xfrm>
          <a:prstGeom prst="rect">
            <a:avLst/>
          </a:prstGeom>
          <a:noFill/>
        </p:spPr>
      </p:pic>
      <p:sp>
        <p:nvSpPr>
          <p:cNvPr id="5" name="Slide Number Placeholder 4">
            <a:extLst>
              <a:ext uri="{FF2B5EF4-FFF2-40B4-BE49-F238E27FC236}">
                <a16:creationId xmlns:a16="http://schemas.microsoft.com/office/drawing/2014/main" id="{FDA6696A-BEB7-DE41-D1C5-DE877BA7CABD}"/>
              </a:ext>
            </a:extLst>
          </p:cNvPr>
          <p:cNvSpPr>
            <a:spLocks noGrp="1"/>
          </p:cNvSpPr>
          <p:nvPr>
            <p:ph type="sldNum" sz="quarter" idx="1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8</a:t>
            </a:fld>
            <a:endParaRPr lang="en-US"/>
          </a:p>
        </p:txBody>
      </p:sp>
      <p:sp>
        <p:nvSpPr>
          <p:cNvPr id="10" name="TextBox 9">
            <a:extLst>
              <a:ext uri="{FF2B5EF4-FFF2-40B4-BE49-F238E27FC236}">
                <a16:creationId xmlns:a16="http://schemas.microsoft.com/office/drawing/2014/main" id="{B69399B6-68EC-C346-27F8-3E9BFF391DD2}"/>
              </a:ext>
            </a:extLst>
          </p:cNvPr>
          <p:cNvSpPr txBox="1"/>
          <p:nvPr/>
        </p:nvSpPr>
        <p:spPr>
          <a:xfrm>
            <a:off x="1296365" y="4878480"/>
            <a:ext cx="7511969" cy="923330"/>
          </a:xfrm>
          <a:prstGeom prst="rect">
            <a:avLst/>
          </a:prstGeom>
          <a:noFill/>
        </p:spPr>
        <p:txBody>
          <a:bodyPr wrap="square" rtlCol="0">
            <a:spAutoFit/>
          </a:bodyPr>
          <a:lstStyle/>
          <a:p>
            <a:pPr marL="285750" indent="-285750">
              <a:buFont typeface="Arial" panose="020B0604020202020204" pitchFamily="34" charset="0"/>
              <a:buChar char="•"/>
            </a:pPr>
            <a:r>
              <a:rPr lang="en-ZA" dirty="0"/>
              <a:t>41.9% of clients with Fiber optic internet service churned.</a:t>
            </a:r>
          </a:p>
          <a:p>
            <a:pPr marL="285750" indent="-285750">
              <a:buFont typeface="Arial" panose="020B0604020202020204" pitchFamily="34" charset="0"/>
              <a:buChar char="•"/>
            </a:pPr>
            <a:r>
              <a:rPr lang="en-ZA" dirty="0"/>
              <a:t>45.3% of clients who pay via electronic check churned.</a:t>
            </a:r>
          </a:p>
          <a:p>
            <a:pPr marL="285750" indent="-285750">
              <a:buFont typeface="Arial" panose="020B0604020202020204" pitchFamily="34" charset="0"/>
              <a:buChar char="•"/>
            </a:pPr>
            <a:endParaRPr lang="en-ZA" dirty="0"/>
          </a:p>
        </p:txBody>
      </p:sp>
    </p:spTree>
    <p:extLst>
      <p:ext uri="{BB962C8B-B14F-4D97-AF65-F5344CB8AC3E}">
        <p14:creationId xmlns:p14="http://schemas.microsoft.com/office/powerpoint/2010/main" val="1228238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F4BAD-C8FC-D792-3A69-EFC636EAC772}"/>
              </a:ext>
            </a:extLst>
          </p:cNvPr>
          <p:cNvSpPr>
            <a:spLocks noGrp="1"/>
          </p:cNvSpPr>
          <p:nvPr>
            <p:ph type="title"/>
          </p:nvPr>
        </p:nvSpPr>
        <p:spPr>
          <a:xfrm>
            <a:off x="1468814" y="351137"/>
            <a:ext cx="9808773" cy="572594"/>
          </a:xfrm>
        </p:spPr>
        <p:txBody>
          <a:bodyPr anchor="b">
            <a:normAutofit fontScale="90000"/>
          </a:bodyPr>
          <a:lstStyle/>
          <a:p>
            <a:r>
              <a:rPr lang="en-ZA" dirty="0"/>
              <a:t>Proxy Variable</a:t>
            </a:r>
          </a:p>
        </p:txBody>
      </p:sp>
      <p:pic>
        <p:nvPicPr>
          <p:cNvPr id="7" name="Content Placeholder 6">
            <a:extLst>
              <a:ext uri="{FF2B5EF4-FFF2-40B4-BE49-F238E27FC236}">
                <a16:creationId xmlns:a16="http://schemas.microsoft.com/office/drawing/2014/main" id="{CAE904AC-7664-B6ED-A38C-58D8C8A2C23D}"/>
              </a:ext>
            </a:extLst>
          </p:cNvPr>
          <p:cNvPicPr>
            <a:picLocks noGrp="1" noChangeAspect="1"/>
          </p:cNvPicPr>
          <p:nvPr>
            <p:ph sz="quarter" idx="10"/>
          </p:nvPr>
        </p:nvPicPr>
        <p:blipFill>
          <a:blip r:embed="rId2"/>
          <a:stretch>
            <a:fillRect/>
          </a:stretch>
        </p:blipFill>
        <p:spPr>
          <a:xfrm>
            <a:off x="1468814" y="1111170"/>
            <a:ext cx="8716908" cy="3414531"/>
          </a:xfrm>
          <a:prstGeom prst="rect">
            <a:avLst/>
          </a:prstGeom>
          <a:noFill/>
        </p:spPr>
      </p:pic>
      <p:sp>
        <p:nvSpPr>
          <p:cNvPr id="14" name="Content Placeholder 3">
            <a:extLst>
              <a:ext uri="{FF2B5EF4-FFF2-40B4-BE49-F238E27FC236}">
                <a16:creationId xmlns:a16="http://schemas.microsoft.com/office/drawing/2014/main" id="{826B0919-BE1D-30C7-B388-806A7682D9DF}"/>
              </a:ext>
            </a:extLst>
          </p:cNvPr>
          <p:cNvSpPr>
            <a:spLocks noGrp="1"/>
          </p:cNvSpPr>
          <p:nvPr>
            <p:ph sz="quarter" idx="11"/>
          </p:nvPr>
        </p:nvSpPr>
        <p:spPr>
          <a:xfrm>
            <a:off x="1468814" y="4713140"/>
            <a:ext cx="7346489" cy="876132"/>
          </a:xfrm>
        </p:spPr>
        <p:txBody>
          <a:bodyPr>
            <a:normAutofit fontScale="92500" lnSpcReduction="20000"/>
          </a:bodyPr>
          <a:lstStyle/>
          <a:p>
            <a:r>
              <a:rPr lang="en-ZA" dirty="0"/>
              <a:t>Total charges show a steady negative relationship with the number of clients who churned and they also show a strong positive correlation with tenure.</a:t>
            </a:r>
          </a:p>
          <a:p>
            <a:endParaRPr lang="en-US" dirty="0"/>
          </a:p>
        </p:txBody>
      </p:sp>
      <p:sp>
        <p:nvSpPr>
          <p:cNvPr id="5" name="Slide Number Placeholder 4">
            <a:extLst>
              <a:ext uri="{FF2B5EF4-FFF2-40B4-BE49-F238E27FC236}">
                <a16:creationId xmlns:a16="http://schemas.microsoft.com/office/drawing/2014/main" id="{7177AD99-FC09-9893-AF9B-791407C25AEB}"/>
              </a:ext>
            </a:extLst>
          </p:cNvPr>
          <p:cNvSpPr>
            <a:spLocks noGrp="1"/>
          </p:cNvSpPr>
          <p:nvPr>
            <p:ph type="sldNum" sz="quarter" idx="15"/>
          </p:nvPr>
        </p:nvSpPr>
        <p:spPr>
          <a:xfrm>
            <a:off x="412136" y="5943601"/>
            <a:ext cx="968983" cy="651912"/>
          </a:xfrm>
        </p:spPr>
        <p:txBody>
          <a:bodyPr anchor="ctr">
            <a:normAutofit/>
          </a:bodyPr>
          <a:lstStyle/>
          <a:p>
            <a:pPr>
              <a:spcAft>
                <a:spcPts val="600"/>
              </a:spcAft>
            </a:pPr>
            <a:fld id="{18D65601-5AE2-46FC-B138-694DDD2B510D}" type="slidenum">
              <a:rPr lang="en-US" smtClean="0"/>
              <a:pPr>
                <a:spcAft>
                  <a:spcPts val="600"/>
                </a:spcAft>
              </a:pPr>
              <a:t>9</a:t>
            </a:fld>
            <a:endParaRPr lang="en-US"/>
          </a:p>
        </p:txBody>
      </p:sp>
    </p:spTree>
    <p:extLst>
      <p:ext uri="{BB962C8B-B14F-4D97-AF65-F5344CB8AC3E}">
        <p14:creationId xmlns:p14="http://schemas.microsoft.com/office/powerpoint/2010/main" val="863339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FFCC8-C04D-0071-3B14-4AF828E000B0}"/>
              </a:ext>
            </a:extLst>
          </p:cNvPr>
          <p:cNvSpPr>
            <a:spLocks noGrp="1"/>
          </p:cNvSpPr>
          <p:nvPr>
            <p:ph type="title"/>
          </p:nvPr>
        </p:nvSpPr>
        <p:spPr>
          <a:xfrm>
            <a:off x="1260470" y="609072"/>
            <a:ext cx="9808773" cy="595743"/>
          </a:xfrm>
        </p:spPr>
        <p:txBody>
          <a:bodyPr>
            <a:normAutofit fontScale="90000"/>
          </a:bodyPr>
          <a:lstStyle/>
          <a:p>
            <a:r>
              <a:rPr lang="en-US" dirty="0"/>
              <a:t>Insights</a:t>
            </a:r>
            <a:endParaRPr lang="en-ZA" dirty="0"/>
          </a:p>
        </p:txBody>
      </p:sp>
      <p:sp>
        <p:nvSpPr>
          <p:cNvPr id="6" name="Content Placeholder 5">
            <a:extLst>
              <a:ext uri="{FF2B5EF4-FFF2-40B4-BE49-F238E27FC236}">
                <a16:creationId xmlns:a16="http://schemas.microsoft.com/office/drawing/2014/main" id="{9F0E1748-5A63-CCAD-65B2-FB5DB78846F2}"/>
              </a:ext>
            </a:extLst>
          </p:cNvPr>
          <p:cNvSpPr>
            <a:spLocks noGrp="1"/>
          </p:cNvSpPr>
          <p:nvPr>
            <p:ph sz="quarter" idx="10"/>
          </p:nvPr>
        </p:nvSpPr>
        <p:spPr>
          <a:xfrm>
            <a:off x="1260470" y="1495231"/>
            <a:ext cx="8485414" cy="3867538"/>
          </a:xfrm>
        </p:spPr>
        <p:txBody>
          <a:bodyPr>
            <a:normAutofit lnSpcReduction="10000"/>
          </a:bodyPr>
          <a:lstStyle/>
          <a:p>
            <a:r>
              <a:rPr lang="en-ZA" dirty="0"/>
              <a:t>Customers with dependents churn at half the rate of those without.</a:t>
            </a:r>
          </a:p>
          <a:p>
            <a:r>
              <a:rPr lang="en-ZA" dirty="0"/>
              <a:t>Customers on longer contracts are more stable, while month‑to‑month clients are more exposed to lapses in renewal or preference‑driven exits.</a:t>
            </a:r>
          </a:p>
          <a:p>
            <a:r>
              <a:rPr lang="en-ZA" dirty="0"/>
              <a:t>Clients who pay via electronic check show a significantly higher churn rate than other payment methods.</a:t>
            </a:r>
          </a:p>
          <a:p>
            <a:r>
              <a:rPr lang="en-ZA" dirty="0"/>
              <a:t>Clients who use Fiber optic internet service are the most likely to churn in this segment. </a:t>
            </a:r>
          </a:p>
          <a:p>
            <a:r>
              <a:rPr lang="en-ZA" dirty="0"/>
              <a:t>New clients form the largest group of churners, with churn risk concentrated in the early months of tenure.</a:t>
            </a:r>
          </a:p>
          <a:p>
            <a:endParaRPr lang="en-ZA" dirty="0"/>
          </a:p>
          <a:p>
            <a:endParaRPr lang="en-US" dirty="0"/>
          </a:p>
        </p:txBody>
      </p:sp>
      <p:sp>
        <p:nvSpPr>
          <p:cNvPr id="3" name="Slide Number Placeholder 2">
            <a:extLst>
              <a:ext uri="{FF2B5EF4-FFF2-40B4-BE49-F238E27FC236}">
                <a16:creationId xmlns:a16="http://schemas.microsoft.com/office/drawing/2014/main" id="{D9D6A759-37B6-1E14-BD05-D652BEECEA33}"/>
              </a:ext>
            </a:extLst>
          </p:cNvPr>
          <p:cNvSpPr>
            <a:spLocks noGrp="1"/>
          </p:cNvSpPr>
          <p:nvPr>
            <p:ph type="sldNum" sz="quarter" idx="15"/>
          </p:nvPr>
        </p:nvSpPr>
        <p:spPr/>
        <p:txBody>
          <a:bodyPr/>
          <a:lstStyle/>
          <a:p>
            <a:fld id="{18D65601-5AE2-46FC-B138-694DDD2B510D}" type="slidenum">
              <a:rPr lang="en-US" smtClean="0"/>
              <a:pPr/>
              <a:t>10</a:t>
            </a:fld>
            <a:endParaRPr lang="en-US" dirty="0"/>
          </a:p>
        </p:txBody>
      </p:sp>
    </p:spTree>
    <p:extLst>
      <p:ext uri="{BB962C8B-B14F-4D97-AF65-F5344CB8AC3E}">
        <p14:creationId xmlns:p14="http://schemas.microsoft.com/office/powerpoint/2010/main" val="952135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74802-DF09-FD54-9D0D-A9A495BB2AD5}"/>
              </a:ext>
            </a:extLst>
          </p:cNvPr>
          <p:cNvSpPr>
            <a:spLocks noGrp="1"/>
          </p:cNvSpPr>
          <p:nvPr>
            <p:ph type="title"/>
          </p:nvPr>
        </p:nvSpPr>
        <p:spPr>
          <a:xfrm>
            <a:off x="1468814" y="503852"/>
            <a:ext cx="9808773" cy="792513"/>
          </a:xfrm>
        </p:spPr>
        <p:txBody>
          <a:bodyPr/>
          <a:lstStyle/>
          <a:p>
            <a:r>
              <a:rPr lang="en-ZA" dirty="0"/>
              <a:t>Risks and Opportunities</a:t>
            </a:r>
          </a:p>
        </p:txBody>
      </p:sp>
      <p:sp>
        <p:nvSpPr>
          <p:cNvPr id="3" name="Content Placeholder 2">
            <a:extLst>
              <a:ext uri="{FF2B5EF4-FFF2-40B4-BE49-F238E27FC236}">
                <a16:creationId xmlns:a16="http://schemas.microsoft.com/office/drawing/2014/main" id="{FE91C923-DAFF-D21D-E244-161642A919AE}"/>
              </a:ext>
            </a:extLst>
          </p:cNvPr>
          <p:cNvSpPr>
            <a:spLocks noGrp="1"/>
          </p:cNvSpPr>
          <p:nvPr>
            <p:ph sz="quarter" idx="10"/>
          </p:nvPr>
        </p:nvSpPr>
        <p:spPr>
          <a:xfrm>
            <a:off x="1468814" y="2500132"/>
            <a:ext cx="5128755" cy="2679540"/>
          </a:xfrm>
        </p:spPr>
        <p:txBody>
          <a:bodyPr/>
          <a:lstStyle/>
          <a:p>
            <a:r>
              <a:rPr lang="en-ZA" dirty="0"/>
              <a:t>High churn among month‑to‑month clients. </a:t>
            </a:r>
          </a:p>
          <a:p>
            <a:r>
              <a:rPr lang="en-ZA" dirty="0"/>
              <a:t>Fiber optic service dissatisfaction.</a:t>
            </a:r>
          </a:p>
          <a:p>
            <a:r>
              <a:rPr lang="en-ZA" dirty="0"/>
              <a:t>Electronic check payment instability.</a:t>
            </a:r>
          </a:p>
        </p:txBody>
      </p:sp>
      <p:sp>
        <p:nvSpPr>
          <p:cNvPr id="4" name="Content Placeholder 3">
            <a:extLst>
              <a:ext uri="{FF2B5EF4-FFF2-40B4-BE49-F238E27FC236}">
                <a16:creationId xmlns:a16="http://schemas.microsoft.com/office/drawing/2014/main" id="{AC330C8E-86B5-74F2-2BDD-7EF1D4130E2E}"/>
              </a:ext>
            </a:extLst>
          </p:cNvPr>
          <p:cNvSpPr>
            <a:spLocks noGrp="1"/>
          </p:cNvSpPr>
          <p:nvPr>
            <p:ph sz="quarter" idx="11"/>
          </p:nvPr>
        </p:nvSpPr>
        <p:spPr>
          <a:xfrm>
            <a:off x="7040789" y="2500131"/>
            <a:ext cx="4379076" cy="2679541"/>
          </a:xfrm>
        </p:spPr>
        <p:txBody>
          <a:bodyPr/>
          <a:lstStyle/>
          <a:p>
            <a:pPr marL="342900" indent="-342900">
              <a:buFont typeface="Arial" panose="020B0604020202020204" pitchFamily="34" charset="0"/>
              <a:buChar char="•"/>
            </a:pPr>
            <a:r>
              <a:rPr lang="en-ZA" dirty="0"/>
              <a:t>Promote long‑term contracts.</a:t>
            </a:r>
          </a:p>
          <a:p>
            <a:pPr marL="342900" indent="-342900">
              <a:buFont typeface="Arial" panose="020B0604020202020204" pitchFamily="34" charset="0"/>
              <a:buChar char="•"/>
            </a:pPr>
            <a:r>
              <a:rPr lang="en-ZA" dirty="0"/>
              <a:t>Target households with dependents.</a:t>
            </a:r>
          </a:p>
          <a:p>
            <a:pPr marL="342900" indent="-342900">
              <a:buFont typeface="Arial" panose="020B0604020202020204" pitchFamily="34" charset="0"/>
              <a:buChar char="•"/>
            </a:pPr>
            <a:r>
              <a:rPr lang="en-ZA" dirty="0"/>
              <a:t>Frontload retention for new clients .</a:t>
            </a:r>
          </a:p>
        </p:txBody>
      </p:sp>
      <p:sp>
        <p:nvSpPr>
          <p:cNvPr id="5" name="Slide Number Placeholder 4">
            <a:extLst>
              <a:ext uri="{FF2B5EF4-FFF2-40B4-BE49-F238E27FC236}">
                <a16:creationId xmlns:a16="http://schemas.microsoft.com/office/drawing/2014/main" id="{C62537E7-062B-230B-7235-CB960DBD820D}"/>
              </a:ext>
            </a:extLst>
          </p:cNvPr>
          <p:cNvSpPr>
            <a:spLocks noGrp="1"/>
          </p:cNvSpPr>
          <p:nvPr>
            <p:ph type="sldNum" sz="quarter" idx="15"/>
          </p:nvPr>
        </p:nvSpPr>
        <p:spPr/>
        <p:txBody>
          <a:bodyPr/>
          <a:lstStyle/>
          <a:p>
            <a:fld id="{18D65601-5AE2-46FC-B138-694DDD2B510D}" type="slidenum">
              <a:rPr lang="en-US" smtClean="0"/>
              <a:pPr/>
              <a:t>11</a:t>
            </a:fld>
            <a:endParaRPr lang="en-US" dirty="0"/>
          </a:p>
        </p:txBody>
      </p:sp>
      <p:sp>
        <p:nvSpPr>
          <p:cNvPr id="6" name="TextBox 5">
            <a:extLst>
              <a:ext uri="{FF2B5EF4-FFF2-40B4-BE49-F238E27FC236}">
                <a16:creationId xmlns:a16="http://schemas.microsoft.com/office/drawing/2014/main" id="{E9A771CC-EDF0-A204-4868-8E01F019D0FA}"/>
              </a:ext>
            </a:extLst>
          </p:cNvPr>
          <p:cNvSpPr txBox="1"/>
          <p:nvPr/>
        </p:nvSpPr>
        <p:spPr>
          <a:xfrm>
            <a:off x="1381119" y="1818546"/>
            <a:ext cx="1225015" cy="461665"/>
          </a:xfrm>
          <a:prstGeom prst="rect">
            <a:avLst/>
          </a:prstGeom>
          <a:noFill/>
        </p:spPr>
        <p:txBody>
          <a:bodyPr wrap="none" rtlCol="0">
            <a:spAutoFit/>
          </a:bodyPr>
          <a:lstStyle/>
          <a:p>
            <a:r>
              <a:rPr lang="en-ZA" sz="2400" b="1" u="sng" dirty="0"/>
              <a:t>RISKS:</a:t>
            </a:r>
            <a:endParaRPr lang="en-ZA" dirty="0"/>
          </a:p>
        </p:txBody>
      </p:sp>
      <p:sp>
        <p:nvSpPr>
          <p:cNvPr id="7" name="TextBox 6">
            <a:extLst>
              <a:ext uri="{FF2B5EF4-FFF2-40B4-BE49-F238E27FC236}">
                <a16:creationId xmlns:a16="http://schemas.microsoft.com/office/drawing/2014/main" id="{62031716-4C54-50DA-0D94-E7934E7D753D}"/>
              </a:ext>
            </a:extLst>
          </p:cNvPr>
          <p:cNvSpPr txBox="1"/>
          <p:nvPr/>
        </p:nvSpPr>
        <p:spPr>
          <a:xfrm>
            <a:off x="7040789" y="1818545"/>
            <a:ext cx="2864887" cy="461665"/>
          </a:xfrm>
          <a:prstGeom prst="rect">
            <a:avLst/>
          </a:prstGeom>
          <a:noFill/>
        </p:spPr>
        <p:txBody>
          <a:bodyPr wrap="none" rtlCol="0">
            <a:spAutoFit/>
          </a:bodyPr>
          <a:lstStyle/>
          <a:p>
            <a:r>
              <a:rPr lang="en-ZA" sz="2400" b="1" u="sng" dirty="0"/>
              <a:t>OPPORTUNITIES:</a:t>
            </a:r>
          </a:p>
        </p:txBody>
      </p:sp>
    </p:spTree>
    <p:extLst>
      <p:ext uri="{BB962C8B-B14F-4D97-AF65-F5344CB8AC3E}">
        <p14:creationId xmlns:p14="http://schemas.microsoft.com/office/powerpoint/2010/main" val="1513665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8CA58-663A-0377-C23A-298F9D48C0FA}"/>
              </a:ext>
            </a:extLst>
          </p:cNvPr>
          <p:cNvSpPr>
            <a:spLocks noGrp="1"/>
          </p:cNvSpPr>
          <p:nvPr>
            <p:ph type="title"/>
          </p:nvPr>
        </p:nvSpPr>
        <p:spPr>
          <a:xfrm>
            <a:off x="1468814" y="503852"/>
            <a:ext cx="9808773" cy="699915"/>
          </a:xfrm>
        </p:spPr>
        <p:txBody>
          <a:bodyPr/>
          <a:lstStyle/>
          <a:p>
            <a:r>
              <a:rPr lang="en-ZA" dirty="0"/>
              <a:t>Recommendations</a:t>
            </a:r>
          </a:p>
        </p:txBody>
      </p:sp>
      <p:sp>
        <p:nvSpPr>
          <p:cNvPr id="3" name="Content Placeholder 2">
            <a:extLst>
              <a:ext uri="{FF2B5EF4-FFF2-40B4-BE49-F238E27FC236}">
                <a16:creationId xmlns:a16="http://schemas.microsoft.com/office/drawing/2014/main" id="{16894535-26F9-573F-3CEE-C0D966A74584}"/>
              </a:ext>
            </a:extLst>
          </p:cNvPr>
          <p:cNvSpPr>
            <a:spLocks noGrp="1"/>
          </p:cNvSpPr>
          <p:nvPr>
            <p:ph sz="quarter" idx="10"/>
          </p:nvPr>
        </p:nvSpPr>
        <p:spPr>
          <a:xfrm>
            <a:off x="1468814" y="1364277"/>
            <a:ext cx="9399814" cy="3867538"/>
          </a:xfrm>
        </p:spPr>
        <p:txBody>
          <a:bodyPr>
            <a:normAutofit fontScale="92500" lnSpcReduction="10000"/>
          </a:bodyPr>
          <a:lstStyle/>
          <a:p>
            <a:r>
              <a:rPr lang="en-ZA" dirty="0"/>
              <a:t>Target households with dependents through family‑oriented bundles and loyalty programs.</a:t>
            </a:r>
          </a:p>
          <a:p>
            <a:r>
              <a:rPr lang="en-ZA" dirty="0"/>
              <a:t>Promote long‑term products and consider incentives such as discounts or bundled services to encourage customers to commit to longer contracts.</a:t>
            </a:r>
          </a:p>
          <a:p>
            <a:r>
              <a:rPr lang="en-ZA" dirty="0"/>
              <a:t>Investigate the underlying causes of high churn among electronic check users and Fiber optic customers. This may involve analysing customer support interactions, billing issues, or service quality to identify pain points.</a:t>
            </a:r>
          </a:p>
          <a:p>
            <a:r>
              <a:rPr lang="en-ZA" dirty="0"/>
              <a:t>Frontload retention strategies during the onboarding period rather than applying them later. Early engagement, welcome offers, and proactive support should be prioritized to reduce churn among new clients.</a:t>
            </a:r>
          </a:p>
          <a:p>
            <a:r>
              <a:rPr lang="en-ZA" dirty="0"/>
              <a:t>Consider targeted retention strategies for </a:t>
            </a:r>
            <a:r>
              <a:rPr lang="en-ZA"/>
              <a:t>digital customers.</a:t>
            </a:r>
            <a:endParaRPr lang="en-ZA" dirty="0"/>
          </a:p>
          <a:p>
            <a:endParaRPr lang="en-ZA" dirty="0"/>
          </a:p>
          <a:p>
            <a:endParaRPr lang="en-ZA" dirty="0"/>
          </a:p>
        </p:txBody>
      </p:sp>
      <p:sp>
        <p:nvSpPr>
          <p:cNvPr id="5" name="Slide Number Placeholder 4">
            <a:extLst>
              <a:ext uri="{FF2B5EF4-FFF2-40B4-BE49-F238E27FC236}">
                <a16:creationId xmlns:a16="http://schemas.microsoft.com/office/drawing/2014/main" id="{C4E5ADD5-B51F-7303-A402-DA10BD057EA4}"/>
              </a:ext>
            </a:extLst>
          </p:cNvPr>
          <p:cNvSpPr>
            <a:spLocks noGrp="1"/>
          </p:cNvSpPr>
          <p:nvPr>
            <p:ph type="sldNum" sz="quarter" idx="15"/>
          </p:nvPr>
        </p:nvSpPr>
        <p:spPr/>
        <p:txBody>
          <a:bodyPr/>
          <a:lstStyle/>
          <a:p>
            <a:fld id="{18D65601-5AE2-46FC-B138-694DDD2B510D}" type="slidenum">
              <a:rPr lang="en-US" smtClean="0"/>
              <a:pPr/>
              <a:t>12</a:t>
            </a:fld>
            <a:endParaRPr lang="en-US" dirty="0"/>
          </a:p>
        </p:txBody>
      </p:sp>
    </p:spTree>
    <p:extLst>
      <p:ext uri="{BB962C8B-B14F-4D97-AF65-F5344CB8AC3E}">
        <p14:creationId xmlns:p14="http://schemas.microsoft.com/office/powerpoint/2010/main" val="88149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01732C-7338-DBA0-BD19-1FA88304749F}"/>
              </a:ext>
            </a:extLst>
          </p:cNvPr>
          <p:cNvSpPr>
            <a:spLocks noGrp="1"/>
          </p:cNvSpPr>
          <p:nvPr>
            <p:ph type="title"/>
          </p:nvPr>
        </p:nvSpPr>
        <p:spPr>
          <a:xfrm>
            <a:off x="3748299" y="1053296"/>
            <a:ext cx="4964671" cy="2702689"/>
          </a:xfrm>
        </p:spPr>
        <p:txBody>
          <a:bodyPr/>
          <a:lstStyle/>
          <a:p>
            <a:r>
              <a:rPr lang="en-US" dirty="0"/>
              <a:t>Thank you.</a:t>
            </a:r>
          </a:p>
        </p:txBody>
      </p:sp>
    </p:spTree>
    <p:extLst>
      <p:ext uri="{BB962C8B-B14F-4D97-AF65-F5344CB8AC3E}">
        <p14:creationId xmlns:p14="http://schemas.microsoft.com/office/powerpoint/2010/main" val="704370842"/>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DB7358-0BCB-4DEB-B717-C1D7CC555F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Helena</Template>
  <TotalTime>1458</TotalTime>
  <Words>499</Words>
  <Application>Microsoft Office PowerPoint</Application>
  <PresentationFormat>Widescreen</PresentationFormat>
  <Paragraphs>64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Neue Haas Grotesk Text Pro</vt:lpstr>
      <vt:lpstr>Helena</vt:lpstr>
      <vt:lpstr>ABC Communications Ltd Churn Analysis </vt:lpstr>
      <vt:lpstr>Content</vt:lpstr>
      <vt:lpstr>Objective</vt:lpstr>
      <vt:lpstr>Customer Demographics</vt:lpstr>
      <vt:lpstr>Customer Demographics</vt:lpstr>
      <vt:lpstr>Churn Drivers</vt:lpstr>
      <vt:lpstr>Churn Drivers</vt:lpstr>
      <vt:lpstr>Churn Drivers</vt:lpstr>
      <vt:lpstr>Proxy Variable</vt:lpstr>
      <vt:lpstr>Insights</vt:lpstr>
      <vt:lpstr>Risks and Opportunities</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Zekhethelo Sithole</dc:creator>
  <cp:lastModifiedBy>Zekhethelo Sithole</cp:lastModifiedBy>
  <cp:revision>1</cp:revision>
  <dcterms:created xsi:type="dcterms:W3CDTF">2026-08-08T17:26:26Z</dcterms:created>
  <dcterms:modified xsi:type="dcterms:W3CDTF">2026-08-09T17:44:27Z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